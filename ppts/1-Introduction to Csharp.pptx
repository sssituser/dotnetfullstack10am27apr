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333" r:id="rId4"/>
    <p:sldId id="329" r:id="rId5"/>
    <p:sldId id="271" r:id="rId6"/>
    <p:sldId id="270" r:id="rId7"/>
    <p:sldId id="266" r:id="rId8"/>
    <p:sldId id="274" r:id="rId9"/>
    <p:sldId id="275" r:id="rId10"/>
    <p:sldId id="298" r:id="rId11"/>
    <p:sldId id="276" r:id="rId12"/>
    <p:sldId id="268" r:id="rId13"/>
    <p:sldId id="277" r:id="rId14"/>
    <p:sldId id="269" r:id="rId15"/>
    <p:sldId id="278" r:id="rId16"/>
    <p:sldId id="283" r:id="rId17"/>
    <p:sldId id="322" r:id="rId18"/>
    <p:sldId id="313" r:id="rId19"/>
    <p:sldId id="286" r:id="rId20"/>
    <p:sldId id="287" r:id="rId21"/>
    <p:sldId id="289" r:id="rId22"/>
    <p:sldId id="288" r:id="rId23"/>
    <p:sldId id="299" r:id="rId24"/>
    <p:sldId id="317" r:id="rId25"/>
    <p:sldId id="318" r:id="rId26"/>
    <p:sldId id="319" r:id="rId27"/>
    <p:sldId id="284" r:id="rId28"/>
    <p:sldId id="285" r:id="rId29"/>
    <p:sldId id="290" r:id="rId30"/>
    <p:sldId id="295" r:id="rId31"/>
    <p:sldId id="291" r:id="rId32"/>
    <p:sldId id="296" r:id="rId33"/>
    <p:sldId id="300" r:id="rId34"/>
    <p:sldId id="301" r:id="rId35"/>
    <p:sldId id="303" r:id="rId36"/>
    <p:sldId id="311" r:id="rId37"/>
    <p:sldId id="307" r:id="rId38"/>
    <p:sldId id="308" r:id="rId39"/>
    <p:sldId id="302" r:id="rId40"/>
    <p:sldId id="309" r:id="rId41"/>
    <p:sldId id="310" r:id="rId42"/>
    <p:sldId id="304" r:id="rId43"/>
    <p:sldId id="305" r:id="rId44"/>
    <p:sldId id="306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runkuma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339966"/>
    <a:srgbClr val="33CC33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9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9-09-14T11:48:56.234" idx="1">
    <p:pos x="3774" y="2756"/>
    <p:text>American Stanandard Code for Information Interchange.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480A5-ADFA-4914-BDDD-1C0326731C74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12851-430D-4C26-A1FD-978E5D40C57F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12851-430D-4C26-A1FD-978E5D40C57F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12851-430D-4C26-A1FD-978E5D40C57F}" type="slidenum">
              <a:rPr lang="en-US" smtClean="0"/>
              <a:t>30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just">
              <a:defRPr sz="2600" b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4983163"/>
          </a:xfrm>
        </p:spPr>
        <p:txBody>
          <a:bodyPr/>
          <a:lstStyle>
            <a:lvl1pPr algn="just">
              <a:defRPr sz="2200" b="0">
                <a:latin typeface="+mj-lt"/>
              </a:defRPr>
            </a:lvl1pPr>
            <a:lvl2pPr algn="just">
              <a:defRPr sz="1900" b="0">
                <a:latin typeface="+mj-lt"/>
              </a:defRPr>
            </a:lvl2pPr>
            <a:lvl3pPr algn="just">
              <a:defRPr sz="1700" b="0">
                <a:latin typeface="+mj-lt"/>
              </a:defRPr>
            </a:lvl3pPr>
            <a:lvl4pPr algn="just">
              <a:defRPr sz="1500" b="0">
                <a:latin typeface="+mj-lt"/>
              </a:defRPr>
            </a:lvl4pPr>
            <a:lvl5pPr algn="just">
              <a:defRPr sz="1400" b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EFEB6-7BA6-4F2B-9B9D-14D43BD07850}" type="datetimeFigureOut">
              <a:rPr lang="en-US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9E872B-1A9B-4D0A-853A-1D6A4FAB7428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2994D-35D0-4861-9A49-613C6D4340DD}" type="datetimeFigureOut">
              <a:rPr lang="en-US"/>
              <a:t>2/17/2026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5ED12A-BAB7-4F94-9574-382F8AE3E01D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1524C-425E-482F-A0C6-1D76C45B4FF5}" type="datetimeFigureOut">
              <a:rPr lang="en-US"/>
              <a:t>2/17/2026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1C0AA5-F908-4823-8DF7-4923D4CE7F30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C5CC0-68E8-4EEB-8B01-BF6F58B971F8}" type="datetimeFigureOut">
              <a:rPr lang="en-US"/>
              <a:t>2/17/2026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F21E9-F300-4875-BADA-B5D945E31F0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C77F36-AB49-459D-A641-2CCD96CA385E}" type="datetimeFigureOut">
              <a:rPr lang="en-US"/>
              <a:t>2/17/2026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761CC-5A3C-4B53-A536-8DCD3AB805EC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D0221-BA04-451B-8652-31EDBB1F7977}" type="datetimeFigureOut">
              <a:rPr lang="en-US"/>
              <a:t>2/17/2026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97BCD-A57E-4BC0-A3CB-80F23297A25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31AD1-4995-42FD-9F39-F14A606CC550}" type="datetimeFigureOut">
              <a:rPr lang="en-US"/>
              <a:t>2/17/2026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DEAF33-F282-4978-A46B-DA4627C6E9D2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66F96-314E-4655-89E2-BB42E000598E}" type="datetimeFigureOut">
              <a:rPr lang="en-US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B306B-2C4E-4309-926F-0EFDBA723E6D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41DFD-6FA9-47B6-844C-44A8DE5A5A89}" type="datetimeFigureOut">
              <a:rPr lang="en-US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EA591-BB09-4397-80C4-4E3A4529A4EF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1447298-B64A-4B1E-AB8A-C385224337E5}" type="datetimeFigureOut">
              <a:rPr lang="en-US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Trapezoid 6"/>
          <p:cNvSpPr/>
          <p:nvPr userDrawn="1"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rapezoid 7"/>
          <p:cNvSpPr/>
          <p:nvPr userDrawn="1"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3" name="Trapezoid 12"/>
          <p:cNvSpPr/>
          <p:nvPr userDrawn="1"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Trapezoid 13"/>
          <p:cNvSpPr/>
          <p:nvPr userDrawn="1"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43" name="Title Placeholder 1"/>
          <p:cNvSpPr>
            <a:spLocks noGrp="1"/>
          </p:cNvSpPr>
          <p:nvPr>
            <p:ph type="title"/>
          </p:nvPr>
        </p:nvSpPr>
        <p:spPr bwMode="auto">
          <a:xfrm>
            <a:off x="228600" y="0"/>
            <a:ext cx="6096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143000"/>
            <a:ext cx="8229600" cy="49831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 kern="1200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anose="020F0502020204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anose="020F0502020204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anose="020F0502020204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9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 b="1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66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C# .NET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C#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12837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/>
              <a:t>It Was developed by the Microsoft Corporation.</a:t>
            </a:r>
          </a:p>
          <a:p>
            <a:r>
              <a:rPr lang="en-US" sz="2400" dirty="0"/>
              <a:t>It is high level programming language.</a:t>
            </a:r>
          </a:p>
          <a:p>
            <a:r>
              <a:rPr lang="en-US" sz="2400" dirty="0"/>
              <a:t>It is an object oriented programming language.</a:t>
            </a:r>
          </a:p>
          <a:p>
            <a:r>
              <a:rPr lang="en-US" sz="2400" dirty="0"/>
              <a:t>It is case sensitive programming language.</a:t>
            </a:r>
          </a:p>
          <a:p>
            <a:r>
              <a:rPr lang="en-US" sz="2400" dirty="0"/>
              <a:t>It extension .cs.</a:t>
            </a:r>
          </a:p>
          <a:p>
            <a:r>
              <a:rPr lang="en-US" sz="2400" dirty="0"/>
              <a:t>It is a very easy programming language.</a:t>
            </a:r>
          </a:p>
          <a:p>
            <a:r>
              <a:rPr lang="en-US" sz="2400" dirty="0"/>
              <a:t>It belongs to C family.</a:t>
            </a:r>
          </a:p>
          <a:p>
            <a:r>
              <a:rPr lang="en-US" sz="2400" dirty="0"/>
              <a:t>It is used to develop various types applications.</a:t>
            </a:r>
          </a:p>
          <a:p>
            <a:r>
              <a:rPr lang="en-US" sz="2400" dirty="0"/>
              <a:t>Console,Windows,Web and Mobile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C# Program Structure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28600" y="1265237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Predefined Namespaces</a:t>
            </a:r>
          </a:p>
          <a:p>
            <a:pPr>
              <a:buNone/>
            </a:pPr>
            <a:r>
              <a:rPr lang="en-US" dirty="0"/>
              <a:t>User defined  Namespace</a:t>
            </a:r>
          </a:p>
          <a:p>
            <a:pPr>
              <a:buNone/>
            </a:pPr>
            <a:r>
              <a:rPr lang="en-US" dirty="0"/>
              <a:t> 	Class Declaration</a:t>
            </a:r>
          </a:p>
          <a:p>
            <a:pPr>
              <a:buNone/>
            </a:pPr>
            <a:r>
              <a:rPr lang="en-US" dirty="0"/>
              <a:t>		Data types</a:t>
            </a:r>
          </a:p>
          <a:p>
            <a:pPr>
              <a:buNone/>
            </a:pPr>
            <a:r>
              <a:rPr lang="en-US" dirty="0"/>
              <a:t>		Methods.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Structure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>
                <a:solidFill>
                  <a:srgbClr val="FF0000"/>
                </a:solidFill>
              </a:rPr>
              <a:t>Namespace</a:t>
            </a:r>
          </a:p>
          <a:p>
            <a:pPr>
              <a:buNone/>
            </a:pPr>
            <a:r>
              <a:rPr lang="en-US" sz="2400" dirty="0"/>
              <a:t>	It is set of classes,interfaces,enumerations,deligates etc….</a:t>
            </a:r>
          </a:p>
          <a:p>
            <a:pPr>
              <a:buNone/>
            </a:pPr>
            <a:r>
              <a:rPr lang="en-US" sz="2800" dirty="0">
                <a:solidFill>
                  <a:srgbClr val="FF0000"/>
                </a:solidFill>
              </a:rPr>
              <a:t>Class</a:t>
            </a:r>
          </a:p>
          <a:p>
            <a:pPr>
              <a:buNone/>
            </a:pPr>
            <a:r>
              <a:rPr lang="en-US" sz="2400" dirty="0"/>
              <a:t>	It is the collection of datatypes and methods.</a:t>
            </a:r>
          </a:p>
          <a:p>
            <a:pPr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609600"/>
          </a:xfrm>
        </p:spPr>
        <p:txBody>
          <a:bodyPr>
            <a:noAutofit/>
          </a:bodyPr>
          <a:lstStyle/>
          <a:p>
            <a:r>
              <a:rPr lang="en-US" sz="3600" dirty="0"/>
              <a:t>C# Program Structure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229600" cy="5791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33CC"/>
                </a:solidFill>
              </a:rPr>
              <a:t>using</a:t>
            </a:r>
            <a:r>
              <a:rPr lang="en-US" sz="2000" b="1" dirty="0"/>
              <a:t> System;</a:t>
            </a:r>
          </a:p>
          <a:p>
            <a:pPr>
              <a:buNone/>
            </a:pPr>
            <a:r>
              <a:rPr lang="en-US" sz="2000" b="1" dirty="0">
                <a:solidFill>
                  <a:srgbClr val="0033CC"/>
                </a:solidFill>
              </a:rPr>
              <a:t>using</a:t>
            </a:r>
            <a:r>
              <a:rPr lang="en-US" sz="2000" b="1" dirty="0"/>
              <a:t> System.Collections.Generic;</a:t>
            </a:r>
          </a:p>
          <a:p>
            <a:pPr>
              <a:buNone/>
            </a:pPr>
            <a:r>
              <a:rPr lang="en-US" sz="2000" b="1" dirty="0">
                <a:solidFill>
                  <a:srgbClr val="0033CC"/>
                </a:solidFill>
              </a:rPr>
              <a:t>using</a:t>
            </a:r>
            <a:r>
              <a:rPr lang="en-US" sz="2000" b="1" dirty="0"/>
              <a:t> System.Linq;</a:t>
            </a:r>
          </a:p>
          <a:p>
            <a:pPr>
              <a:buNone/>
            </a:pPr>
            <a:r>
              <a:rPr lang="en-US" sz="2000" b="1" dirty="0">
                <a:solidFill>
                  <a:srgbClr val="0033CC"/>
                </a:solidFill>
              </a:rPr>
              <a:t>using</a:t>
            </a:r>
            <a:r>
              <a:rPr lang="en-US" sz="2000" b="1" dirty="0"/>
              <a:t> System.Text;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 </a:t>
            </a:r>
            <a:r>
              <a:rPr lang="en-US" sz="2000" b="1" dirty="0">
                <a:solidFill>
                  <a:srgbClr val="0033CC"/>
                </a:solidFill>
              </a:rPr>
              <a:t>namespace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Test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b="1" dirty="0"/>
              <a:t>{</a:t>
            </a:r>
          </a:p>
          <a:p>
            <a:pPr>
              <a:buNone/>
            </a:pPr>
            <a:r>
              <a:rPr lang="en-US" sz="2000" b="1" dirty="0"/>
              <a:t>    class </a:t>
            </a:r>
            <a:r>
              <a:rPr lang="en-US" sz="2000" b="1" dirty="0">
                <a:solidFill>
                  <a:srgbClr val="339966"/>
                </a:solidFill>
              </a:rPr>
              <a:t>Program   </a:t>
            </a:r>
          </a:p>
          <a:p>
            <a:pPr>
              <a:buNone/>
            </a:pPr>
            <a:r>
              <a:rPr lang="en-US" sz="2000" b="1" dirty="0"/>
              <a:t>    {</a:t>
            </a:r>
          </a:p>
          <a:p>
            <a:pPr>
              <a:buNone/>
            </a:pPr>
            <a:r>
              <a:rPr lang="en-US" sz="2000" b="1" dirty="0"/>
              <a:t>        </a:t>
            </a:r>
            <a:r>
              <a:rPr lang="en-US" sz="2000" b="1" dirty="0">
                <a:solidFill>
                  <a:srgbClr val="0033CC"/>
                </a:solidFill>
              </a:rPr>
              <a:t>static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33CC"/>
                </a:solidFill>
              </a:rPr>
              <a:t>void</a:t>
            </a:r>
            <a:r>
              <a:rPr lang="en-US" sz="2000" b="1" dirty="0"/>
              <a:t> Main(string[] args)</a:t>
            </a:r>
          </a:p>
          <a:p>
            <a:pPr>
              <a:buNone/>
            </a:pPr>
            <a:r>
              <a:rPr lang="en-US" sz="2000" b="1" dirty="0"/>
              <a:t>        {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        }</a:t>
            </a:r>
          </a:p>
          <a:p>
            <a:pPr>
              <a:buNone/>
            </a:pPr>
            <a:r>
              <a:rPr lang="en-US" sz="2000" b="1" dirty="0"/>
              <a:t>    }</a:t>
            </a:r>
          </a:p>
          <a:p>
            <a:pPr>
              <a:buNone/>
            </a:pPr>
            <a:r>
              <a:rPr lang="en-US" sz="2000" b="1" dirty="0"/>
              <a:t>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1000" y="990600"/>
            <a:ext cx="3810000" cy="1676400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Arrow Connector 27"/>
          <p:cNvCxnSpPr>
            <a:stCxn id="27" idx="3"/>
          </p:cNvCxnSpPr>
          <p:nvPr/>
        </p:nvCxnSpPr>
        <p:spPr>
          <a:xfrm>
            <a:off x="4191000" y="1828800"/>
            <a:ext cx="1066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537542" y="1676400"/>
            <a:ext cx="2451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Predefined Namespaces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09600" y="2819400"/>
            <a:ext cx="1752600" cy="381000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2362200" y="2971800"/>
            <a:ext cx="2971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638800" y="2819400"/>
            <a:ext cx="25358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User defined Namespace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09600" y="3276600"/>
            <a:ext cx="1752600" cy="304800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2438400" y="3452336"/>
            <a:ext cx="2971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715000" y="3288268"/>
            <a:ext cx="1780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Class Declaration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90600" y="3962400"/>
            <a:ext cx="3200400" cy="381000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4267200" y="4191000"/>
            <a:ext cx="1066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410200" y="4050268"/>
            <a:ext cx="938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Method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752600" y="4507468"/>
            <a:ext cx="1676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Document Area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/>
      <p:bldP spid="34" grpId="0" animBg="1"/>
      <p:bldP spid="36" grpId="0"/>
      <p:bldP spid="37" grpId="0" animBg="1"/>
      <p:bldP spid="39" grpId="0"/>
      <p:bldP spid="40" grpId="0" animBg="1"/>
      <p:bldP spid="42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How to develop a program in C#?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/>
              <a:t>Open the project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Code the program using C#.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Execute using Ctrl+F5.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These Steps will be repeated for all the programs.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Visual Studio Introduction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/>
              <a:t>It is an IDE(Integrated Development Environment).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It is used develop  software , web and Mobile applications.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It is Introduced by Microsoft.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In order to work with any project in Visual Studio tool we need know about Solution Explorer and Server Explorer 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Solution Explorer in which project and its respect files can be added.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Sever Explorer in which Databases can deal the with the DataBases.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229600" cy="685800"/>
          </a:xfrm>
        </p:spPr>
        <p:txBody>
          <a:bodyPr>
            <a:normAutofit/>
          </a:bodyPr>
          <a:lstStyle/>
          <a:p>
            <a:r>
              <a:rPr lang="en-US" sz="2800" dirty="0"/>
              <a:t>Creating new project in VS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143000"/>
            <a:ext cx="75438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792162"/>
          </a:xfrm>
        </p:spPr>
        <p:txBody>
          <a:bodyPr>
            <a:normAutofit/>
          </a:bodyPr>
          <a:lstStyle/>
          <a:p>
            <a:r>
              <a:rPr lang="en-US" sz="2800" dirty="0"/>
              <a:t>Creating new project in VS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965200"/>
            <a:ext cx="7620000" cy="520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792162"/>
          </a:xfrm>
        </p:spPr>
        <p:txBody>
          <a:bodyPr>
            <a:normAutofit/>
          </a:bodyPr>
          <a:lstStyle/>
          <a:p>
            <a:r>
              <a:rPr lang="en-US" sz="2800" dirty="0"/>
              <a:t>Creating new project in VS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0585" y="1066800"/>
            <a:ext cx="758283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2" y="838200"/>
            <a:ext cx="7619998" cy="5270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Creating new project in VS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743200"/>
            <a:ext cx="762000" cy="2286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743200" y="2819400"/>
            <a:ext cx="3352800" cy="396838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133600" y="5715000"/>
            <a:ext cx="3429000" cy="238103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 rot="5400000" flipH="1" flipV="1">
            <a:off x="1562894" y="2094706"/>
            <a:ext cx="12954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221638" y="1382474"/>
            <a:ext cx="2388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Programming language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88482" y="2923106"/>
            <a:ext cx="1780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Application 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5736171"/>
            <a:ext cx="1894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Application Name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019800" y="3140038"/>
            <a:ext cx="533400" cy="1166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5562600" y="5876903"/>
            <a:ext cx="7620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9" grpId="0"/>
      <p:bldP spid="20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85800"/>
            <a:ext cx="91440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Coding new program in VS</a:t>
            </a:r>
          </a:p>
        </p:txBody>
      </p:sp>
      <p:sp>
        <p:nvSpPr>
          <p:cNvPr id="4" name="Rectangle 3"/>
          <p:cNvSpPr/>
          <p:nvPr/>
        </p:nvSpPr>
        <p:spPr>
          <a:xfrm>
            <a:off x="8763000" y="1828800"/>
            <a:ext cx="381000" cy="91440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33400"/>
            <a:ext cx="91440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Coding new program in VS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0" y="1447800"/>
            <a:ext cx="1752600" cy="182880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 rot="10800000">
            <a:off x="1981200" y="5029200"/>
            <a:ext cx="13716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5040868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Document Area where work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675677"/>
            <a:ext cx="29718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Solution Explorer in which,</a:t>
            </a:r>
          </a:p>
          <a:p>
            <a:r>
              <a:rPr lang="en-US" b="1" dirty="0">
                <a:solidFill>
                  <a:srgbClr val="002060"/>
                </a:solidFill>
              </a:rPr>
              <a:t> we Add Files to the project,  </a:t>
            </a:r>
          </a:p>
          <a:p>
            <a:r>
              <a:rPr lang="en-US" b="1" dirty="0">
                <a:solidFill>
                  <a:srgbClr val="002060"/>
                </a:solidFill>
              </a:rPr>
              <a:t>all the files which are present project will be seen here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rot="5400000">
            <a:off x="7392194" y="3504406"/>
            <a:ext cx="457200" cy="158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81000"/>
            <a:ext cx="91440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Coding new program in 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4486870"/>
            <a:ext cx="259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press CTRL + F5 </a:t>
            </a:r>
          </a:p>
          <a:p>
            <a:r>
              <a:rPr lang="en-US" b="1" dirty="0"/>
              <a:t>        	To</a:t>
            </a:r>
          </a:p>
          <a:p>
            <a:r>
              <a:rPr lang="en-US" b="1" dirty="0"/>
              <a:t> Execute the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4791670"/>
            <a:ext cx="3200400" cy="3899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112391" y="3516868"/>
            <a:ext cx="2338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After writing the code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62000"/>
            <a:ext cx="88392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Coding new program in VS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9600"/>
            <a:ext cx="3657600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105400" y="953869"/>
            <a:ext cx="34665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After Executing the project We get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out put.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Data Types in C#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229600" cy="4525963"/>
          </a:xfrm>
        </p:spPr>
        <p:txBody>
          <a:bodyPr numCol="2">
            <a:noAutofit/>
          </a:bodyPr>
          <a:lstStyle/>
          <a:p>
            <a:r>
              <a:rPr lang="en-US" sz="2400" dirty="0"/>
              <a:t>char		1 byte	</a:t>
            </a:r>
          </a:p>
          <a:p>
            <a:r>
              <a:rPr lang="en-US" sz="2400" dirty="0"/>
              <a:t>int		4 byte	</a:t>
            </a:r>
          </a:p>
          <a:p>
            <a:r>
              <a:rPr lang="en-US" sz="2400" dirty="0"/>
              <a:t>float		4 byte	</a:t>
            </a:r>
          </a:p>
          <a:p>
            <a:r>
              <a:rPr lang="en-US" sz="2400" dirty="0"/>
              <a:t>double	8 byte	</a:t>
            </a:r>
          </a:p>
          <a:p>
            <a:r>
              <a:rPr lang="en-US" sz="2400" dirty="0"/>
              <a:t>decimal	16 byte	 </a:t>
            </a:r>
          </a:p>
          <a:p>
            <a:r>
              <a:rPr lang="en-US" sz="2400" dirty="0"/>
              <a:t>String</a:t>
            </a:r>
          </a:p>
          <a:p>
            <a:r>
              <a:rPr lang="en-US" sz="2400" dirty="0"/>
              <a:t>Class</a:t>
            </a:r>
          </a:p>
          <a:p>
            <a:r>
              <a:rPr lang="en-US" sz="2400" dirty="0"/>
              <a:t>Bool -     1byte</a:t>
            </a:r>
          </a:p>
          <a:p>
            <a:r>
              <a:rPr lang="en-US" sz="2400" dirty="0"/>
              <a:t>Byte  -    1byte</a:t>
            </a:r>
          </a:p>
          <a:p>
            <a:r>
              <a:rPr lang="en-US" sz="2400" dirty="0" err="1"/>
              <a:t>Sbyte</a:t>
            </a:r>
            <a:r>
              <a:rPr lang="en-US" sz="2400" dirty="0"/>
              <a:t> -   1byte</a:t>
            </a:r>
          </a:p>
          <a:p>
            <a:r>
              <a:rPr lang="en-US" sz="2400" dirty="0"/>
              <a:t>Short  - 2bytes</a:t>
            </a:r>
          </a:p>
          <a:p>
            <a:r>
              <a:rPr lang="en-US" sz="2400" dirty="0" err="1"/>
              <a:t>Ushort</a:t>
            </a:r>
            <a:r>
              <a:rPr lang="en-US" sz="2400" dirty="0"/>
              <a:t> – 2bytes</a:t>
            </a:r>
          </a:p>
          <a:p>
            <a:r>
              <a:rPr lang="en-US" sz="2400" dirty="0"/>
              <a:t>Long  - 8 bytes</a:t>
            </a:r>
          </a:p>
          <a:p>
            <a:r>
              <a:rPr lang="en-US" sz="2400" dirty="0" err="1"/>
              <a:t>Ulong</a:t>
            </a:r>
            <a:r>
              <a:rPr lang="en-US" sz="2400" dirty="0"/>
              <a:t>- </a:t>
            </a:r>
            <a:r>
              <a:rPr lang="en-US" sz="2400"/>
              <a:t>8 bytes</a:t>
            </a: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Input and Out Put Methods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04800" y="1112837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solidFill>
                  <a:srgbClr val="FF0000"/>
                </a:solidFill>
              </a:rPr>
              <a:t>Out put Methods</a:t>
            </a:r>
          </a:p>
          <a:p>
            <a:pPr>
              <a:buNone/>
            </a:pPr>
            <a:r>
              <a:rPr lang="en-US" sz="2400" dirty="0"/>
              <a:t>	These methods can be used to display the statements and values inside the console App.</a:t>
            </a:r>
          </a:p>
          <a:p>
            <a:pPr>
              <a:buNone/>
            </a:pPr>
            <a:r>
              <a:rPr lang="en-US" sz="2400" dirty="0"/>
              <a:t>They are</a:t>
            </a:r>
          </a:p>
          <a:p>
            <a:pPr>
              <a:buNone/>
            </a:pPr>
            <a:r>
              <a:rPr lang="en-US" dirty="0"/>
              <a:t>	Console.WriteLine()</a:t>
            </a:r>
          </a:p>
          <a:p>
            <a:pPr>
              <a:buNone/>
            </a:pPr>
            <a:r>
              <a:rPr lang="en-US" dirty="0"/>
              <a:t>	Console.Write()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Input and Out Put Methods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solidFill>
                  <a:srgbClr val="FF0000"/>
                </a:solidFill>
              </a:rPr>
              <a:t>Input Methods</a:t>
            </a:r>
          </a:p>
          <a:p>
            <a:pPr>
              <a:buNone/>
            </a:pPr>
            <a:r>
              <a:rPr lang="en-US" sz="2400" dirty="0"/>
              <a:t>		These are used to read values from the console.</a:t>
            </a:r>
          </a:p>
          <a:p>
            <a:pPr>
              <a:buNone/>
            </a:pPr>
            <a:r>
              <a:rPr lang="en-US" sz="2400" dirty="0"/>
              <a:t>Tyey are</a:t>
            </a:r>
          </a:p>
          <a:p>
            <a:pPr>
              <a:buNone/>
            </a:pPr>
            <a:r>
              <a:rPr lang="en-US" dirty="0"/>
              <a:t>		Console.ReadLine()</a:t>
            </a:r>
          </a:p>
          <a:p>
            <a:pPr>
              <a:buNone/>
            </a:pPr>
            <a:r>
              <a:rPr lang="en-US" dirty="0"/>
              <a:t>		Console.Read()</a:t>
            </a:r>
          </a:p>
          <a:p>
            <a:pPr>
              <a:buNone/>
            </a:pPr>
            <a:r>
              <a:rPr lang="en-US" dirty="0"/>
              <a:t>		Console.ReadKey()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 on out put methods</a:t>
            </a:r>
          </a:p>
        </p:txBody>
      </p:sp>
      <p:pic>
        <p:nvPicPr>
          <p:cNvPr id="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28600" y="1214032"/>
            <a:ext cx="8610600" cy="4841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7688" y="1600610"/>
            <a:ext cx="8048625" cy="4525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new program in VS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76400"/>
            <a:ext cx="3657600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876800" y="1905000"/>
            <a:ext cx="34132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After Executing the project We get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out put.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rmAutofit/>
          </a:bodyPr>
          <a:lstStyle/>
          <a:p>
            <a:r>
              <a:rPr lang="en-US" sz="2800" dirty="0"/>
              <a:t>Example on out put methods</a:t>
            </a:r>
          </a:p>
        </p:txBody>
      </p:sp>
      <p:pic>
        <p:nvPicPr>
          <p:cNvPr id="7" name="Picture 6"/>
          <p:cNvPicPr/>
          <p:nvPr/>
        </p:nvPicPr>
        <p:blipFill>
          <a:blip r:embed="rId2"/>
          <a:srcRect l="5609" t="17378" r="35096" b="14530"/>
          <a:stretch>
            <a:fillRect/>
          </a:stretch>
        </p:blipFill>
        <p:spPr bwMode="auto">
          <a:xfrm>
            <a:off x="381000" y="1066800"/>
            <a:ext cx="80010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0200"/>
            <a:ext cx="8077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Executing VS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76400"/>
            <a:ext cx="7924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876800" y="2401669"/>
            <a:ext cx="34132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After Executing the project We get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out put.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rmAutofit/>
          </a:bodyPr>
          <a:lstStyle/>
          <a:p>
            <a:r>
              <a:rPr lang="en-US" sz="2800" dirty="0"/>
              <a:t>Example on Data Types with Out put methods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>
                <a:solidFill>
                  <a:srgbClr val="0033CC"/>
                </a:solidFill>
              </a:rPr>
              <a:t>static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33CC"/>
                </a:solidFill>
              </a:rPr>
              <a:t>void</a:t>
            </a:r>
            <a:r>
              <a:rPr lang="en-US" sz="2000" dirty="0"/>
              <a:t> Main(string[] args)</a:t>
            </a:r>
          </a:p>
          <a:p>
            <a:pPr>
              <a:buNone/>
            </a:pPr>
            <a:r>
              <a:rPr lang="en-US" sz="2000" dirty="0"/>
              <a:t>        {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            </a:t>
            </a:r>
            <a:r>
              <a:rPr lang="en-US" sz="2000" dirty="0">
                <a:solidFill>
                  <a:srgbClr val="0033CC"/>
                </a:solidFill>
              </a:rPr>
              <a:t>int</a:t>
            </a:r>
            <a:r>
              <a:rPr lang="en-US" sz="2000" dirty="0"/>
              <a:t>   a  = 10;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            </a:t>
            </a:r>
            <a:r>
              <a:rPr lang="en-US" sz="2000" dirty="0">
                <a:solidFill>
                  <a:srgbClr val="0033CC"/>
                </a:solidFill>
              </a:rPr>
              <a:t>float</a:t>
            </a:r>
            <a:r>
              <a:rPr lang="en-US" sz="2000" dirty="0"/>
              <a:t>  x  =  4.5f;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            </a:t>
            </a:r>
            <a:r>
              <a:rPr lang="en-US" sz="2000" dirty="0">
                <a:solidFill>
                  <a:srgbClr val="0033CC"/>
                </a:solidFill>
              </a:rPr>
              <a:t>double</a:t>
            </a:r>
            <a:r>
              <a:rPr lang="en-US" sz="2000" dirty="0"/>
              <a:t>  d  =  7.8;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            </a:t>
            </a:r>
            <a:r>
              <a:rPr lang="en-US" sz="2000" dirty="0">
                <a:solidFill>
                  <a:srgbClr val="0033CC"/>
                </a:solidFill>
              </a:rPr>
              <a:t>string</a:t>
            </a:r>
            <a:r>
              <a:rPr lang="en-US" sz="2000" dirty="0"/>
              <a:t> s  =  "Welcome";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            </a:t>
            </a:r>
            <a:r>
              <a:rPr lang="en-US" sz="2000" dirty="0">
                <a:solidFill>
                  <a:srgbClr val="0033CC"/>
                </a:solidFill>
              </a:rPr>
              <a:t>decimal</a:t>
            </a:r>
            <a:r>
              <a:rPr lang="en-US" sz="2000" dirty="0"/>
              <a:t>  m  =  5.6m;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           </a:t>
            </a:r>
            <a:r>
              <a:rPr lang="en-US" sz="2000" dirty="0">
                <a:solidFill>
                  <a:srgbClr val="006600"/>
                </a:solidFill>
              </a:rPr>
              <a:t> Console.</a:t>
            </a:r>
            <a:r>
              <a:rPr lang="en-US" sz="2000" dirty="0"/>
              <a:t>WriteLine("{0}   {1}     {2}     {3}  {4}",a,x,d,s,m);	            </a:t>
            </a:r>
          </a:p>
          <a:p>
            <a:pPr>
              <a:buNone/>
            </a:pPr>
            <a:r>
              <a:rPr lang="en-US" sz="2000" dirty="0"/>
              <a:t>        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Input and Out Put Methods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Input Methods</a:t>
            </a:r>
          </a:p>
          <a:p>
            <a:pPr lvl="1"/>
            <a:r>
              <a:rPr lang="en-US" dirty="0"/>
              <a:t>These are used to read values from the console.</a:t>
            </a:r>
          </a:p>
          <a:p>
            <a:pPr lvl="1"/>
            <a:r>
              <a:rPr lang="en-US" dirty="0"/>
              <a:t>Tyey are</a:t>
            </a:r>
          </a:p>
          <a:p>
            <a:pPr lvl="2"/>
            <a:r>
              <a:rPr lang="en-US" dirty="0"/>
              <a:t>Console.ReadLine()</a:t>
            </a:r>
          </a:p>
          <a:p>
            <a:pPr lvl="2"/>
            <a:r>
              <a:rPr lang="en-US" dirty="0"/>
              <a:t>Console.Read()</a:t>
            </a:r>
          </a:p>
          <a:p>
            <a:pPr lvl="2"/>
            <a:r>
              <a:rPr lang="en-US" dirty="0"/>
              <a:t>Console.ReadKey()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dirty="0"/>
              <a:t>Input and Out Put Methods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Console.ReadLine()</a:t>
            </a:r>
          </a:p>
          <a:p>
            <a:pPr>
              <a:buNone/>
            </a:pPr>
            <a:r>
              <a:rPr lang="en-US" sz="2000" dirty="0"/>
              <a:t>		It is used to read a string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Int.Parse(Console.ReadLine())</a:t>
            </a:r>
          </a:p>
          <a:p>
            <a:pPr>
              <a:buNone/>
            </a:pPr>
            <a:r>
              <a:rPr lang="en-US" sz="2000" dirty="0"/>
              <a:t>		It is used to Read Integer Value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Float.Parse(Console.ReadLine())</a:t>
            </a:r>
          </a:p>
          <a:p>
            <a:pPr>
              <a:buNone/>
            </a:pPr>
            <a:r>
              <a:rPr lang="en-US" sz="2000" dirty="0"/>
              <a:t>		It is used to Read Float value.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Double.Parse(Console.ReadLine())</a:t>
            </a:r>
          </a:p>
          <a:p>
            <a:pPr>
              <a:buNone/>
            </a:pPr>
            <a:r>
              <a:rPr lang="en-US" sz="2000" dirty="0"/>
              <a:t>		It is used to Read double value.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Bool.Parse(Console.ReadLine())</a:t>
            </a:r>
          </a:p>
          <a:p>
            <a:pPr>
              <a:buNone/>
            </a:pPr>
            <a:r>
              <a:rPr lang="en-US" sz="2000" dirty="0"/>
              <a:t>		It is used to boolean value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Console.Read()</a:t>
            </a:r>
          </a:p>
          <a:p>
            <a:pPr>
              <a:buNone/>
            </a:pPr>
            <a:r>
              <a:rPr lang="en-US" sz="1800" dirty="0"/>
              <a:t>		</a:t>
            </a:r>
            <a:r>
              <a:rPr lang="en-US" sz="2000" dirty="0"/>
              <a:t>It used to Read ASCII Value of the given Character.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Console.ReadKey()</a:t>
            </a:r>
          </a:p>
          <a:p>
            <a:pPr>
              <a:buNone/>
            </a:pPr>
            <a:r>
              <a:rPr lang="en-US" sz="2000" dirty="0"/>
              <a:t>		It is used to read a key from the console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Reading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876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dirty="0">
                <a:solidFill>
                  <a:srgbClr val="0033CC"/>
                </a:solidFill>
              </a:rPr>
              <a:t>static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33CC"/>
                </a:solidFill>
              </a:rPr>
              <a:t>void</a:t>
            </a:r>
            <a:r>
              <a:rPr lang="en-US" sz="1800" dirty="0"/>
              <a:t> Main(string[] args)</a:t>
            </a:r>
          </a:p>
          <a:p>
            <a:pPr>
              <a:buNone/>
            </a:pPr>
            <a:r>
              <a:rPr lang="en-US" sz="1800" dirty="0"/>
              <a:t>        {</a:t>
            </a:r>
          </a:p>
          <a:p>
            <a:pPr>
              <a:buNone/>
            </a:pPr>
            <a:r>
              <a:rPr lang="en-US" sz="1800" dirty="0"/>
              <a:t>            </a:t>
            </a:r>
            <a:r>
              <a:rPr lang="en-US" sz="1800" dirty="0">
                <a:solidFill>
                  <a:srgbClr val="339966"/>
                </a:solidFill>
              </a:rPr>
              <a:t>Console</a:t>
            </a:r>
            <a:r>
              <a:rPr lang="en-US" sz="1800" dirty="0"/>
              <a:t>.Write("Enter a string : ");</a:t>
            </a:r>
          </a:p>
          <a:p>
            <a:pPr>
              <a:buNone/>
            </a:pPr>
            <a:r>
              <a:rPr lang="en-US" sz="1800" dirty="0"/>
              <a:t>            string s = Console.ReadLine();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            </a:t>
            </a:r>
            <a:r>
              <a:rPr lang="en-US" sz="1800" dirty="0">
                <a:solidFill>
                  <a:srgbClr val="339966"/>
                </a:solidFill>
              </a:rPr>
              <a:t>Console</a:t>
            </a:r>
            <a:r>
              <a:rPr lang="en-US" sz="1800" dirty="0"/>
              <a:t>.Write("Enter a int value : ");</a:t>
            </a:r>
          </a:p>
          <a:p>
            <a:pPr>
              <a:buNone/>
            </a:pPr>
            <a:r>
              <a:rPr lang="en-US" sz="1800" dirty="0"/>
              <a:t>            int a = int.Parase(Console.ReadLine());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            Console.Write("Enter Float value : ");</a:t>
            </a:r>
          </a:p>
          <a:p>
            <a:pPr>
              <a:buNone/>
            </a:pPr>
            <a:r>
              <a:rPr lang="en-US" sz="1800" dirty="0"/>
              <a:t>            float f =float.Parse(Console.ReadLine());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            Console.Write("Enter double value : ");</a:t>
            </a:r>
          </a:p>
          <a:p>
            <a:pPr>
              <a:buNone/>
            </a:pPr>
            <a:r>
              <a:rPr lang="en-US" sz="1800" dirty="0"/>
              <a:t>            double d =double.parse(Console.ReadLine());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            Console.Write("Enter boolean value : ");</a:t>
            </a:r>
          </a:p>
          <a:p>
            <a:pPr>
              <a:buNone/>
            </a:pPr>
            <a:r>
              <a:rPr lang="en-US" sz="1800" dirty="0"/>
              <a:t>            bool b =bool.Parse( Console.ReadLine());</a:t>
            </a:r>
          </a:p>
          <a:p>
            <a:pPr>
              <a:buNone/>
            </a:pPr>
            <a:r>
              <a:rPr lang="en-US" sz="1800" dirty="0"/>
              <a:t>        }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/>
          <a:srcRect r="60833" b="80952"/>
          <a:stretch>
            <a:fillRect/>
          </a:stretch>
        </p:blipFill>
        <p:spPr bwMode="auto">
          <a:xfrm>
            <a:off x="4495800" y="1066800"/>
            <a:ext cx="3581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/>
          <a:srcRect r="59746" b="75610"/>
          <a:stretch>
            <a:fillRect/>
          </a:stretch>
        </p:blipFill>
        <p:spPr bwMode="auto">
          <a:xfrm>
            <a:off x="4495800" y="990600"/>
            <a:ext cx="35814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 r="60000" b="75610"/>
          <a:stretch>
            <a:fillRect/>
          </a:stretch>
        </p:blipFill>
        <p:spPr bwMode="auto">
          <a:xfrm>
            <a:off x="4419600" y="914400"/>
            <a:ext cx="36576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5"/>
          <a:srcRect r="60000" b="75609"/>
          <a:stretch>
            <a:fillRect/>
          </a:stretch>
        </p:blipFill>
        <p:spPr bwMode="auto">
          <a:xfrm>
            <a:off x="4419600" y="914400"/>
            <a:ext cx="36576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6"/>
          <a:srcRect r="58333" b="73171"/>
          <a:stretch>
            <a:fillRect/>
          </a:stretch>
        </p:blipFill>
        <p:spPr bwMode="auto">
          <a:xfrm>
            <a:off x="4343400" y="838200"/>
            <a:ext cx="3810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7"/>
          <a:srcRect r="58333" b="73171"/>
          <a:stretch>
            <a:fillRect/>
          </a:stretch>
        </p:blipFill>
        <p:spPr bwMode="auto">
          <a:xfrm>
            <a:off x="4343400" y="838200"/>
            <a:ext cx="3810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8"/>
          <a:srcRect r="58334" b="65433"/>
          <a:stretch>
            <a:fillRect/>
          </a:stretch>
        </p:blipFill>
        <p:spPr bwMode="auto">
          <a:xfrm>
            <a:off x="4343400" y="838200"/>
            <a:ext cx="3810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  <a:p>
            <a:r>
              <a:rPr lang="en-US" dirty="0"/>
              <a:t>In</a:t>
            </a:r>
          </a:p>
          <a:p>
            <a:r>
              <a:rPr lang="en-US" dirty="0"/>
              <a:t>C#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Operators in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Arithmetic operators .</a:t>
            </a:r>
          </a:p>
          <a:p>
            <a:r>
              <a:rPr lang="en-US" sz="2400" dirty="0"/>
              <a:t>Relational operators(</a:t>
            </a:r>
            <a:r>
              <a:rPr lang="en-US" sz="2400"/>
              <a:t>Comaprision</a:t>
            </a:r>
            <a:r>
              <a:rPr lang="en-US" sz="2400" dirty="0"/>
              <a:t> Operator).</a:t>
            </a:r>
          </a:p>
          <a:p>
            <a:r>
              <a:rPr lang="en-US" sz="2400" dirty="0"/>
              <a:t>Logical Operators.</a:t>
            </a:r>
          </a:p>
          <a:p>
            <a:r>
              <a:rPr lang="en-US" sz="2400" dirty="0"/>
              <a:t>Assignment operators.</a:t>
            </a:r>
          </a:p>
          <a:p>
            <a:r>
              <a:rPr lang="en-US" sz="2400" dirty="0"/>
              <a:t>conditional operators.</a:t>
            </a:r>
          </a:p>
          <a:p>
            <a:r>
              <a:rPr lang="en-US" sz="2400" dirty="0"/>
              <a:t>Increment and Decrement operators.</a:t>
            </a:r>
          </a:p>
          <a:p>
            <a:r>
              <a:rPr lang="en-US" sz="2400" dirty="0"/>
              <a:t>Bitwise Operators.// home work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 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+     -&gt; add</a:t>
            </a:r>
          </a:p>
          <a:p>
            <a:r>
              <a:rPr lang="fr-FR" sz="2400" dirty="0"/>
              <a:t>-      -&gt;sub</a:t>
            </a:r>
          </a:p>
          <a:p>
            <a:r>
              <a:rPr lang="fr-FR" sz="2400" dirty="0"/>
              <a:t>*      -&gt;mul</a:t>
            </a:r>
          </a:p>
          <a:p>
            <a:r>
              <a:rPr lang="fr-FR" sz="2400" dirty="0"/>
              <a:t>/      -&gt;div--&gt;quo            5/2 ---&gt; 2</a:t>
            </a:r>
          </a:p>
          <a:p>
            <a:r>
              <a:rPr lang="fr-FR" sz="2400" dirty="0"/>
              <a:t>%     -&gt;mode-&gt;Rem      5%2 ---&gt;1 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 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200" dirty="0">
                <a:solidFill>
                  <a:srgbClr val="0033CC"/>
                </a:solidFill>
              </a:rPr>
              <a:t>static void</a:t>
            </a:r>
            <a:r>
              <a:rPr lang="en-US" sz="2200" dirty="0"/>
              <a:t> Main(</a:t>
            </a:r>
            <a:r>
              <a:rPr lang="en-US" sz="2200" dirty="0">
                <a:solidFill>
                  <a:srgbClr val="0033CC"/>
                </a:solidFill>
              </a:rPr>
              <a:t>string</a:t>
            </a:r>
            <a:r>
              <a:rPr lang="en-US" sz="2200" dirty="0"/>
              <a:t>[] args)</a:t>
            </a:r>
          </a:p>
          <a:p>
            <a:pPr>
              <a:buNone/>
            </a:pPr>
            <a:r>
              <a:rPr lang="en-US" sz="2200" dirty="0"/>
              <a:t>        {</a:t>
            </a:r>
          </a:p>
          <a:p>
            <a:pPr>
              <a:buNone/>
            </a:pPr>
            <a:r>
              <a:rPr lang="en-US" sz="2200" dirty="0"/>
              <a:t>            </a:t>
            </a:r>
            <a:r>
              <a:rPr lang="en-US" sz="2200" dirty="0">
                <a:solidFill>
                  <a:srgbClr val="0033CC"/>
                </a:solidFill>
              </a:rPr>
              <a:t>int</a:t>
            </a:r>
            <a:r>
              <a:rPr lang="en-US" sz="2200" dirty="0"/>
              <a:t> a = 5;</a:t>
            </a:r>
          </a:p>
          <a:p>
            <a:pPr>
              <a:buNone/>
            </a:pPr>
            <a:r>
              <a:rPr lang="en-US" sz="2200" dirty="0"/>
              <a:t>            </a:t>
            </a:r>
            <a:r>
              <a:rPr lang="en-US" sz="2200" dirty="0">
                <a:solidFill>
                  <a:srgbClr val="0033CC"/>
                </a:solidFill>
              </a:rPr>
              <a:t>int</a:t>
            </a:r>
            <a:r>
              <a:rPr lang="en-US" sz="2200" dirty="0"/>
              <a:t> b = 2;</a:t>
            </a:r>
          </a:p>
          <a:p>
            <a:pPr>
              <a:buNone/>
            </a:pPr>
            <a:r>
              <a:rPr lang="en-US" sz="2200" dirty="0"/>
              <a:t>            Console.WriteLine("Sum:{0}",a+b);</a:t>
            </a:r>
          </a:p>
          <a:p>
            <a:pPr>
              <a:buNone/>
            </a:pPr>
            <a:r>
              <a:rPr lang="en-US" sz="2200" dirty="0"/>
              <a:t>            Console.WriteLine("Sub:{0}",a-b);</a:t>
            </a:r>
          </a:p>
          <a:p>
            <a:pPr>
              <a:buNone/>
            </a:pPr>
            <a:r>
              <a:rPr lang="en-US" sz="2200" dirty="0"/>
              <a:t>            Console.WriteLine("Mul:{0}",a*b);</a:t>
            </a:r>
          </a:p>
          <a:p>
            <a:pPr>
              <a:buNone/>
            </a:pPr>
            <a:r>
              <a:rPr lang="en-US" sz="2200" dirty="0"/>
              <a:t>            Console.WriteLine("Quo:{0}",a/b);</a:t>
            </a:r>
          </a:p>
          <a:p>
            <a:pPr>
              <a:buNone/>
            </a:pPr>
            <a:r>
              <a:rPr lang="en-US" sz="2200" dirty="0"/>
              <a:t>            Console.WriteLine("Rem:{0}",a%b);</a:t>
            </a:r>
          </a:p>
          <a:p>
            <a:pPr>
              <a:buNone/>
            </a:pPr>
            <a:r>
              <a:rPr lang="en-US" sz="2200" dirty="0"/>
              <a:t>        }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2667000"/>
            <a:ext cx="2057400" cy="457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 : 7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343400" y="2895600"/>
            <a:ext cx="1524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943600" y="3124200"/>
            <a:ext cx="2057400" cy="457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 : 3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343400" y="3352800"/>
            <a:ext cx="1524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943600" y="3581400"/>
            <a:ext cx="2057400" cy="457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Mul : 10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343400" y="3810000"/>
            <a:ext cx="1524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943600" y="4038600"/>
            <a:ext cx="2057400" cy="457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Quo : 2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343400" y="4267200"/>
            <a:ext cx="1524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943600" y="4419600"/>
            <a:ext cx="2057400" cy="457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Rem: 1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4343400" y="4648200"/>
            <a:ext cx="1524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 animBg="1"/>
      <p:bldP spid="10" grpId="0" build="allAtOnce" animBg="1"/>
      <p:bldP spid="12" grpId="0" animBg="1"/>
      <p:bldP spid="12" grpId="1" animBg="1"/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Relational operators: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      &gt;    -&gt;Greter</a:t>
            </a:r>
          </a:p>
          <a:p>
            <a:pPr>
              <a:buNone/>
            </a:pPr>
            <a:r>
              <a:rPr lang="en-US" sz="2000" dirty="0"/>
              <a:t>	&lt;    -&gt;less</a:t>
            </a:r>
          </a:p>
          <a:p>
            <a:pPr>
              <a:buNone/>
            </a:pPr>
            <a:r>
              <a:rPr lang="en-US" sz="2000" dirty="0"/>
              <a:t>	&gt;=   -&gt;Greaterthan or equal</a:t>
            </a:r>
          </a:p>
          <a:p>
            <a:pPr>
              <a:buNone/>
            </a:pPr>
            <a:r>
              <a:rPr lang="en-US" sz="2000" dirty="0"/>
              <a:t>	&lt;=   -&gt;Lesserthan or equal</a:t>
            </a:r>
          </a:p>
          <a:p>
            <a:pPr>
              <a:buNone/>
            </a:pPr>
            <a:r>
              <a:rPr lang="en-US" sz="2000" dirty="0"/>
              <a:t>	==   -&gt;(comparision)</a:t>
            </a:r>
          </a:p>
          <a:p>
            <a:pPr>
              <a:buNone/>
            </a:pPr>
            <a:r>
              <a:rPr lang="en-US" sz="2000" dirty="0"/>
              <a:t>	!=   -&gt;(Not Equal)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000" dirty="0">
                <a:solidFill>
                  <a:srgbClr val="0033CC"/>
                </a:solidFill>
              </a:rPr>
              <a:t>static void</a:t>
            </a:r>
            <a:r>
              <a:rPr lang="en-US" sz="2000" dirty="0"/>
              <a:t> Main(</a:t>
            </a:r>
            <a:r>
              <a:rPr lang="en-US" sz="2000" dirty="0">
                <a:solidFill>
                  <a:srgbClr val="0033CC"/>
                </a:solidFill>
              </a:rPr>
              <a:t>string</a:t>
            </a:r>
            <a:r>
              <a:rPr lang="en-US" sz="2000" dirty="0"/>
              <a:t>[] args)</a:t>
            </a:r>
          </a:p>
          <a:p>
            <a:pPr>
              <a:buNone/>
            </a:pPr>
            <a:r>
              <a:rPr lang="en-US" sz="2000" dirty="0"/>
              <a:t>        {</a:t>
            </a:r>
          </a:p>
          <a:p>
            <a:pPr>
              <a:buNone/>
            </a:pPr>
            <a:r>
              <a:rPr lang="en-US" sz="2000" dirty="0"/>
              <a:t>            </a:t>
            </a:r>
            <a:r>
              <a:rPr lang="en-US" sz="2000" dirty="0">
                <a:solidFill>
                  <a:srgbClr val="0033CC"/>
                </a:solidFill>
              </a:rPr>
              <a:t>int</a:t>
            </a:r>
            <a:r>
              <a:rPr lang="en-US" sz="2000" dirty="0"/>
              <a:t> a = 5;</a:t>
            </a:r>
          </a:p>
          <a:p>
            <a:pPr>
              <a:buNone/>
            </a:pPr>
            <a:r>
              <a:rPr lang="en-US" sz="2000" dirty="0"/>
              <a:t>            </a:t>
            </a:r>
            <a:r>
              <a:rPr lang="en-US" sz="2000" dirty="0">
                <a:solidFill>
                  <a:srgbClr val="0033CC"/>
                </a:solidFill>
              </a:rPr>
              <a:t>int</a:t>
            </a:r>
            <a:r>
              <a:rPr lang="en-US" sz="2000" dirty="0"/>
              <a:t> b = 2;</a:t>
            </a:r>
          </a:p>
          <a:p>
            <a:pPr>
              <a:buNone/>
            </a:pPr>
            <a:r>
              <a:rPr lang="it-IT" sz="2000" dirty="0"/>
              <a:t>	      Console.WriteLine("a &gt;  b : {0}", a &gt; b); </a:t>
            </a:r>
          </a:p>
          <a:p>
            <a:pPr>
              <a:buNone/>
            </a:pPr>
            <a:r>
              <a:rPr lang="it-IT" sz="2000" dirty="0"/>
              <a:t>            Console.WriteLine("a &gt;= b : {0}", a &gt;= b);</a:t>
            </a:r>
          </a:p>
          <a:p>
            <a:pPr>
              <a:buNone/>
            </a:pPr>
            <a:r>
              <a:rPr lang="it-IT" sz="2000" dirty="0"/>
              <a:t>            Console.WriteLine("a &lt;  b : {0}", a &lt; b);</a:t>
            </a:r>
          </a:p>
          <a:p>
            <a:pPr>
              <a:buNone/>
            </a:pPr>
            <a:r>
              <a:rPr lang="it-IT" sz="2000" dirty="0"/>
              <a:t>            Console.WriteLine("a &lt;= b : {0}", a &lt;= b);</a:t>
            </a:r>
          </a:p>
          <a:p>
            <a:pPr>
              <a:buNone/>
            </a:pPr>
            <a:r>
              <a:rPr lang="it-IT" sz="2000" dirty="0"/>
              <a:t>            Console.WriteLine("a == b : {0}", a == b);</a:t>
            </a:r>
          </a:p>
          <a:p>
            <a:pPr>
              <a:buNone/>
            </a:pPr>
            <a:r>
              <a:rPr lang="it-IT" sz="2000" dirty="0"/>
              <a:t>            Console.WriteLine("a != b : {0}", a != b);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        }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181600" y="2819400"/>
            <a:ext cx="13716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53200" y="2590800"/>
            <a:ext cx="1600200" cy="3048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 &gt; b:True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5257800" y="3122612"/>
            <a:ext cx="13716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629400" y="2971800"/>
            <a:ext cx="1524000" cy="3048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  &gt;= b :True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257800" y="3505200"/>
            <a:ext cx="13716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629400" y="3352800"/>
            <a:ext cx="1524000" cy="3048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 &lt; b : False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257800" y="3886200"/>
            <a:ext cx="13716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629400" y="3733800"/>
            <a:ext cx="1524000" cy="3048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 &lt;= b : False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5257800" y="4267200"/>
            <a:ext cx="13716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629400" y="4114800"/>
            <a:ext cx="1524000" cy="3048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 == b : False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5257800" y="4648200"/>
            <a:ext cx="13716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629400" y="4495800"/>
            <a:ext cx="1524000" cy="3048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 != b :True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229600" cy="57150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2800" dirty="0"/>
              <a:t>&amp;&amp;- --&gt; and</a:t>
            </a:r>
          </a:p>
          <a:p>
            <a:pPr>
              <a:buNone/>
            </a:pPr>
            <a:r>
              <a:rPr lang="en-US" sz="2800" dirty="0"/>
              <a:t>|| ---&gt; or</a:t>
            </a:r>
          </a:p>
          <a:p>
            <a:pPr>
              <a:buNone/>
            </a:pPr>
            <a:r>
              <a:rPr lang="en-US" sz="2800" dirty="0"/>
              <a:t>!   ---&gt; not</a:t>
            </a:r>
          </a:p>
          <a:p>
            <a:pPr>
              <a:buNone/>
            </a:pPr>
            <a:r>
              <a:rPr lang="en-US" sz="2800" dirty="0"/>
              <a:t>con1	con2       con1 &amp;&amp; con2		</a:t>
            </a:r>
          </a:p>
          <a:p>
            <a:pPr>
              <a:buNone/>
            </a:pPr>
            <a:r>
              <a:rPr lang="en-US" sz="2800" dirty="0"/>
              <a:t>true	true	     true		  	</a:t>
            </a:r>
          </a:p>
          <a:p>
            <a:pPr>
              <a:buNone/>
            </a:pPr>
            <a:r>
              <a:rPr lang="en-US" sz="2800" dirty="0"/>
              <a:t>true	false	     false		  	</a:t>
            </a:r>
          </a:p>
          <a:p>
            <a:pPr>
              <a:buNone/>
            </a:pPr>
            <a:r>
              <a:rPr lang="en-US" sz="2800" dirty="0"/>
              <a:t>false	true	     false		   	</a:t>
            </a:r>
          </a:p>
          <a:p>
            <a:pPr>
              <a:buNone/>
            </a:pPr>
            <a:r>
              <a:rPr lang="en-US" sz="2800" dirty="0"/>
              <a:t>false	false	    false		   	</a:t>
            </a:r>
          </a:p>
          <a:p>
            <a:pPr>
              <a:buNone/>
            </a:pPr>
            <a:r>
              <a:rPr lang="en-US" sz="2800" dirty="0"/>
              <a:t>con1	con2	con1 || con2</a:t>
            </a:r>
          </a:p>
          <a:p>
            <a:pPr>
              <a:buNone/>
            </a:pPr>
            <a:r>
              <a:rPr lang="en-US" sz="2800" dirty="0"/>
              <a:t> true	 true	     true</a:t>
            </a:r>
          </a:p>
          <a:p>
            <a:pPr>
              <a:buNone/>
            </a:pPr>
            <a:r>
              <a:rPr lang="en-US" sz="2800" dirty="0"/>
              <a:t> true	false	     true</a:t>
            </a:r>
          </a:p>
          <a:p>
            <a:pPr>
              <a:buNone/>
            </a:pPr>
            <a:r>
              <a:rPr lang="en-US" sz="2800" dirty="0"/>
              <a:t>false	true	     true</a:t>
            </a:r>
          </a:p>
          <a:p>
            <a:pPr>
              <a:buNone/>
            </a:pPr>
            <a:r>
              <a:rPr lang="en-US" sz="2800" dirty="0"/>
              <a:t>false	false	     false</a:t>
            </a:r>
          </a:p>
          <a:p>
            <a:pPr>
              <a:buNone/>
            </a:pPr>
            <a:r>
              <a:rPr lang="en-US" sz="2800" dirty="0"/>
              <a:t>con      !con</a:t>
            </a:r>
          </a:p>
          <a:p>
            <a:pPr>
              <a:buNone/>
            </a:pPr>
            <a:r>
              <a:rPr lang="en-US" sz="2800" dirty="0"/>
              <a:t>true      false</a:t>
            </a:r>
          </a:p>
          <a:p>
            <a:pPr>
              <a:buNone/>
            </a:pPr>
            <a:r>
              <a:rPr lang="en-US" sz="2800" dirty="0"/>
              <a:t>false     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800" y="2057400"/>
            <a:ext cx="3962400" cy="16002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04800" y="3733800"/>
            <a:ext cx="3962400" cy="1524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4800" y="5334000"/>
            <a:ext cx="3962400" cy="9906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04800" y="914400"/>
            <a:ext cx="3962400" cy="1066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Assignment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	=         Assignment operator</a:t>
            </a:r>
          </a:p>
          <a:p>
            <a:pPr>
              <a:buNone/>
            </a:pPr>
            <a:r>
              <a:rPr lang="en-US" sz="2400" dirty="0"/>
              <a:t>	+=        Additive Assignment </a:t>
            </a:r>
          </a:p>
          <a:p>
            <a:pPr>
              <a:buNone/>
            </a:pPr>
            <a:r>
              <a:rPr lang="en-US" sz="2400" dirty="0"/>
              <a:t>	-=        Subtractive Assignment</a:t>
            </a:r>
          </a:p>
          <a:p>
            <a:pPr>
              <a:buNone/>
            </a:pPr>
            <a:r>
              <a:rPr lang="en-US" sz="2400" dirty="0"/>
              <a:t>	*=	     Multiplicative Assignment</a:t>
            </a:r>
          </a:p>
          <a:p>
            <a:pPr>
              <a:buNone/>
            </a:pPr>
            <a:r>
              <a:rPr lang="en-US" sz="2400" dirty="0"/>
              <a:t>	/=	     Division Assignment</a:t>
            </a:r>
          </a:p>
          <a:p>
            <a:pPr>
              <a:buNone/>
            </a:pPr>
            <a:r>
              <a:rPr lang="en-US" sz="2400" dirty="0"/>
              <a:t>	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Assignment Operators program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>
                <a:solidFill>
                  <a:srgbClr val="0033CC"/>
                </a:solidFill>
              </a:rPr>
              <a:t>static void</a:t>
            </a:r>
            <a:r>
              <a:rPr lang="en-US" dirty="0"/>
              <a:t> Main(</a:t>
            </a:r>
            <a:r>
              <a:rPr lang="en-US" dirty="0">
                <a:solidFill>
                  <a:srgbClr val="0033CC"/>
                </a:solidFill>
              </a:rPr>
              <a:t>string</a:t>
            </a:r>
            <a:r>
              <a:rPr lang="en-US" dirty="0"/>
              <a:t>[] args)</a:t>
            </a:r>
          </a:p>
          <a:p>
            <a:pPr>
              <a:buNone/>
            </a:pPr>
            <a:r>
              <a:rPr lang="en-US" dirty="0"/>
              <a:t>        {</a:t>
            </a:r>
          </a:p>
          <a:p>
            <a:pPr>
              <a:buNone/>
            </a:pPr>
            <a:r>
              <a:rPr lang="en-US" dirty="0"/>
              <a:t>            </a:t>
            </a:r>
            <a:r>
              <a:rPr lang="en-US" dirty="0">
                <a:solidFill>
                  <a:srgbClr val="0033CC"/>
                </a:solidFill>
              </a:rPr>
              <a:t>int</a:t>
            </a:r>
            <a:r>
              <a:rPr lang="en-US" dirty="0"/>
              <a:t> a = 10;</a:t>
            </a:r>
          </a:p>
          <a:p>
            <a:pPr>
              <a:buNone/>
            </a:pPr>
            <a:r>
              <a:rPr lang="en-US" dirty="0"/>
              <a:t>            </a:t>
            </a:r>
            <a:r>
              <a:rPr lang="en-US" dirty="0">
                <a:solidFill>
                  <a:srgbClr val="0033CC"/>
                </a:solidFill>
              </a:rPr>
              <a:t>int</a:t>
            </a:r>
            <a:r>
              <a:rPr lang="en-US" dirty="0"/>
              <a:t> b = 20;</a:t>
            </a:r>
          </a:p>
          <a:p>
            <a:pPr>
              <a:buNone/>
            </a:pPr>
            <a:r>
              <a:rPr lang="it-IT" dirty="0"/>
              <a:t>	      </a:t>
            </a:r>
            <a:r>
              <a:rPr lang="en-US" dirty="0"/>
              <a:t>Console.WriteLine("a = {0}",a);</a:t>
            </a:r>
          </a:p>
          <a:p>
            <a:pPr>
              <a:buNone/>
            </a:pPr>
            <a:r>
              <a:rPr lang="en-US" dirty="0"/>
              <a:t>            a += b;           // a = a+b</a:t>
            </a:r>
          </a:p>
          <a:p>
            <a:pPr>
              <a:buNone/>
            </a:pPr>
            <a:r>
              <a:rPr lang="en-US" dirty="0"/>
              <a:t>            Console.WriteLine("a = {0}", a);</a:t>
            </a:r>
          </a:p>
          <a:p>
            <a:pPr>
              <a:buNone/>
            </a:pPr>
            <a:r>
              <a:rPr lang="en-US" dirty="0"/>
              <a:t>            a -= b;</a:t>
            </a:r>
          </a:p>
          <a:p>
            <a:pPr>
              <a:buNone/>
            </a:pPr>
            <a:r>
              <a:rPr lang="en-US" dirty="0"/>
              <a:t>            Console.WriteLine("a = {0}", a);</a:t>
            </a:r>
          </a:p>
          <a:p>
            <a:pPr>
              <a:buNone/>
            </a:pPr>
            <a:r>
              <a:rPr lang="en-US" dirty="0"/>
              <a:t>            a *= b;</a:t>
            </a:r>
          </a:p>
          <a:p>
            <a:pPr>
              <a:buNone/>
            </a:pPr>
            <a:r>
              <a:rPr lang="en-US" dirty="0"/>
              <a:t>            Console.WriteLine("a = {0}", a);</a:t>
            </a:r>
          </a:p>
          <a:p>
            <a:pPr>
              <a:buNone/>
            </a:pPr>
            <a:r>
              <a:rPr lang="en-US" dirty="0"/>
              <a:t>            a /= b;</a:t>
            </a:r>
          </a:p>
          <a:p>
            <a:pPr>
              <a:buNone/>
            </a:pPr>
            <a:r>
              <a:rPr lang="en-US" dirty="0"/>
              <a:t>            Console.WriteLine("a = {0}", a);</a:t>
            </a:r>
          </a:p>
          <a:p>
            <a:pPr>
              <a:buNone/>
            </a:pPr>
            <a:r>
              <a:rPr lang="en-US" dirty="0"/>
              <a:t>        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8194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=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3528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=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9624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=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45720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= 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51054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=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Assignment operators:</a:t>
            </a:r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81264" y="1143000"/>
            <a:ext cx="8305272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Conditional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	</a:t>
            </a:r>
            <a:r>
              <a:rPr lang="en-US" sz="2400" b="1" dirty="0"/>
              <a:t>? : (Ternary Operator)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b="1" dirty="0"/>
              <a:t>con? Stmt1 : stmt2;</a:t>
            </a:r>
          </a:p>
          <a:p>
            <a:pPr>
              <a:buNone/>
            </a:pPr>
            <a:r>
              <a:rPr lang="en-US" sz="2400" dirty="0"/>
              <a:t>	con--&gt;True---&gt;stmt1 can be executed</a:t>
            </a:r>
          </a:p>
          <a:p>
            <a:pPr>
              <a:buNone/>
            </a:pPr>
            <a:r>
              <a:rPr lang="en-US" sz="2400" dirty="0"/>
              <a:t>	con---&gt;False--&gt;stmt2 can be executed	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Conditional Operators program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0033CC"/>
                </a:solidFill>
              </a:rPr>
              <a:t>static void</a:t>
            </a:r>
            <a:r>
              <a:rPr lang="en-US" dirty="0"/>
              <a:t> Main(</a:t>
            </a:r>
            <a:r>
              <a:rPr lang="en-US" dirty="0">
                <a:solidFill>
                  <a:srgbClr val="0033CC"/>
                </a:solidFill>
              </a:rPr>
              <a:t>string</a:t>
            </a:r>
            <a:r>
              <a:rPr lang="en-US" dirty="0"/>
              <a:t>[] args)</a:t>
            </a:r>
          </a:p>
          <a:p>
            <a:pPr>
              <a:buNone/>
            </a:pPr>
            <a:r>
              <a:rPr lang="en-US" dirty="0"/>
              <a:t>        {</a:t>
            </a:r>
          </a:p>
          <a:p>
            <a:pPr>
              <a:buNone/>
            </a:pPr>
            <a:r>
              <a:rPr lang="en-US" sz="2400" dirty="0"/>
              <a:t>            bool con = </a:t>
            </a:r>
            <a:r>
              <a:rPr lang="en-US" sz="2400" dirty="0">
                <a:solidFill>
                  <a:srgbClr val="0033CC"/>
                </a:solidFill>
              </a:rPr>
              <a:t>true</a:t>
            </a:r>
            <a:r>
              <a:rPr lang="en-US" sz="2400" dirty="0"/>
              <a:t>;</a:t>
            </a:r>
          </a:p>
          <a:p>
            <a:pPr>
              <a:buNone/>
            </a:pPr>
            <a:r>
              <a:rPr lang="en-US" sz="2400" dirty="0"/>
              <a:t>            Console.WriteLine(con?"Hi":"Bye");</a:t>
            </a:r>
            <a:endParaRPr lang="en-US" dirty="0"/>
          </a:p>
          <a:p>
            <a:pPr>
              <a:buNone/>
            </a:pPr>
            <a:r>
              <a:rPr lang="en-US" dirty="0"/>
              <a:t>        }</a:t>
            </a:r>
          </a:p>
        </p:txBody>
      </p:sp>
      <p:sp>
        <p:nvSpPr>
          <p:cNvPr id="4" name="Rectangle 3"/>
          <p:cNvSpPr/>
          <p:nvPr/>
        </p:nvSpPr>
        <p:spPr>
          <a:xfrm>
            <a:off x="5867400" y="24384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Conditional operators:</a:t>
            </a:r>
          </a:p>
        </p:txBody>
      </p:sp>
      <p:pic>
        <p:nvPicPr>
          <p:cNvPr id="1126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81264" y="1143000"/>
            <a:ext cx="8305272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Conditional Operators program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0033CC"/>
                </a:solidFill>
              </a:rPr>
              <a:t>static void</a:t>
            </a:r>
            <a:r>
              <a:rPr lang="en-US" dirty="0"/>
              <a:t> Main(</a:t>
            </a:r>
            <a:r>
              <a:rPr lang="en-US" dirty="0">
                <a:solidFill>
                  <a:srgbClr val="0033CC"/>
                </a:solidFill>
              </a:rPr>
              <a:t>string</a:t>
            </a:r>
            <a:r>
              <a:rPr lang="en-US" dirty="0"/>
              <a:t>[] args)</a:t>
            </a:r>
          </a:p>
          <a:p>
            <a:pPr>
              <a:buNone/>
            </a:pPr>
            <a:r>
              <a:rPr lang="en-US" dirty="0"/>
              <a:t>        {</a:t>
            </a:r>
          </a:p>
          <a:p>
            <a:pPr>
              <a:buNone/>
            </a:pPr>
            <a:r>
              <a:rPr lang="en-US" sz="2400" dirty="0"/>
              <a:t>            bool con = </a:t>
            </a:r>
            <a:r>
              <a:rPr lang="en-US" sz="2400" dirty="0">
                <a:solidFill>
                  <a:srgbClr val="0033CC"/>
                </a:solidFill>
              </a:rPr>
              <a:t>false</a:t>
            </a:r>
            <a:r>
              <a:rPr lang="en-US" sz="2400" dirty="0"/>
              <a:t>;</a:t>
            </a:r>
          </a:p>
          <a:p>
            <a:pPr>
              <a:buNone/>
            </a:pPr>
            <a:r>
              <a:rPr lang="en-US" sz="2400" dirty="0"/>
              <a:t>            Console.WriteLine(con?"Hi":"Bye");</a:t>
            </a:r>
            <a:endParaRPr lang="en-US" dirty="0"/>
          </a:p>
          <a:p>
            <a:pPr>
              <a:buNone/>
            </a:pPr>
            <a:r>
              <a:rPr lang="en-US" dirty="0"/>
              <a:t>        }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24384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Bye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Conditional operators:</a:t>
            </a:r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81264" y="1143000"/>
            <a:ext cx="8305272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Increment and Decrement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	++  Increment Operator</a:t>
            </a:r>
          </a:p>
          <a:p>
            <a:pPr>
              <a:buNone/>
            </a:pPr>
            <a:r>
              <a:rPr lang="en-US" sz="2400" dirty="0"/>
              <a:t>	--    Decrement Operator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Increment and Decrement Operators program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solidFill>
                  <a:srgbClr val="0033CC"/>
                </a:solidFill>
              </a:rPr>
              <a:t>static void</a:t>
            </a:r>
            <a:r>
              <a:rPr lang="en-US" sz="2400" dirty="0"/>
              <a:t> Main(</a:t>
            </a:r>
            <a:r>
              <a:rPr lang="en-US" sz="2400" dirty="0">
                <a:solidFill>
                  <a:srgbClr val="0033CC"/>
                </a:solidFill>
              </a:rPr>
              <a:t>string</a:t>
            </a:r>
            <a:r>
              <a:rPr lang="en-US" sz="2400" dirty="0"/>
              <a:t>[] args)</a:t>
            </a:r>
          </a:p>
          <a:p>
            <a:pPr>
              <a:buNone/>
            </a:pPr>
            <a:r>
              <a:rPr lang="en-US" sz="2400" dirty="0"/>
              <a:t>        {</a:t>
            </a:r>
          </a:p>
          <a:p>
            <a:pPr>
              <a:buNone/>
            </a:pPr>
            <a:r>
              <a:rPr lang="en-US" sz="2400" dirty="0"/>
              <a:t>            </a:t>
            </a:r>
            <a:r>
              <a:rPr lang="en-US" sz="2400" dirty="0">
                <a:solidFill>
                  <a:srgbClr val="0033CC"/>
                </a:solidFill>
              </a:rPr>
              <a:t>int</a:t>
            </a:r>
            <a:r>
              <a:rPr lang="en-US" sz="2400" dirty="0"/>
              <a:t> a = 10;</a:t>
            </a:r>
          </a:p>
          <a:p>
            <a:pPr>
              <a:buNone/>
            </a:pPr>
            <a:r>
              <a:rPr lang="en-US" sz="2400" dirty="0"/>
              <a:t>            </a:t>
            </a:r>
            <a:r>
              <a:rPr lang="en-US" sz="2400" dirty="0">
                <a:solidFill>
                  <a:srgbClr val="0033CC"/>
                </a:solidFill>
              </a:rPr>
              <a:t>int</a:t>
            </a:r>
            <a:r>
              <a:rPr lang="en-US" sz="2400" dirty="0"/>
              <a:t> b = 20;</a:t>
            </a:r>
          </a:p>
          <a:p>
            <a:pPr>
              <a:buNone/>
            </a:pPr>
            <a:r>
              <a:rPr lang="it-IT" sz="2400" dirty="0"/>
              <a:t>	      </a:t>
            </a:r>
            <a:r>
              <a:rPr lang="en-US" sz="2400" dirty="0"/>
              <a:t>Console.WriteLine("a = {0}",a++);  // Post Increment</a:t>
            </a:r>
          </a:p>
          <a:p>
            <a:pPr>
              <a:buNone/>
            </a:pPr>
            <a:r>
              <a:rPr lang="en-US" sz="2400" dirty="0"/>
              <a:t>           Console.WriteLine("a = {0}", a);</a:t>
            </a:r>
          </a:p>
          <a:p>
            <a:pPr>
              <a:buNone/>
            </a:pPr>
            <a:r>
              <a:rPr lang="en-US" sz="2400" dirty="0"/>
              <a:t>	     Console.WriteLine(“b = {0}", ++b); // Pre Increment</a:t>
            </a:r>
          </a:p>
          <a:p>
            <a:pPr>
              <a:buNone/>
            </a:pPr>
            <a:r>
              <a:rPr lang="en-US" sz="2400" dirty="0"/>
              <a:t>          Console.WriteLine(“b = {0}", b); </a:t>
            </a:r>
          </a:p>
          <a:p>
            <a:pPr>
              <a:buNone/>
            </a:pPr>
            <a:r>
              <a:rPr lang="en-US" sz="2400" dirty="0"/>
              <a:t>    }</a:t>
            </a:r>
          </a:p>
        </p:txBody>
      </p:sp>
      <p:sp>
        <p:nvSpPr>
          <p:cNvPr id="4" name="Rectangle 3"/>
          <p:cNvSpPr/>
          <p:nvPr/>
        </p:nvSpPr>
        <p:spPr>
          <a:xfrm>
            <a:off x="5257800" y="28956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=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0" y="34290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=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0" y="38862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=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43434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= 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Increment decrement operators:</a:t>
            </a: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81264" y="1143000"/>
            <a:ext cx="8305272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8100">
          <a:solidFill>
            <a:srgbClr val="FF0000"/>
          </a:solidFill>
          <a:prstDash val="dash"/>
          <a:round/>
        </a:ln>
        <a:effectLst>
          <a:glow rad="101600">
            <a:schemeClr val="accent3">
              <a:satMod val="175000"/>
              <a:alpha val="40000"/>
            </a:schemeClr>
          </a:glow>
        </a:effectLst>
      </a:spPr>
      <a:bodyPr wrap="none" anchor="ctr"/>
      <a:lstStyle>
        <a:defPPr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1756</Words>
  <Application>Microsoft Office PowerPoint</Application>
  <PresentationFormat>On-screen Show (4:3)</PresentationFormat>
  <Paragraphs>306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Wingdings</vt:lpstr>
      <vt:lpstr>1_Office Theme</vt:lpstr>
      <vt:lpstr>C# .NET</vt:lpstr>
      <vt:lpstr>C# Introduction</vt:lpstr>
      <vt:lpstr>C# Program Structure</vt:lpstr>
      <vt:lpstr>Structure Definitions</vt:lpstr>
      <vt:lpstr>C# Program Structure</vt:lpstr>
      <vt:lpstr>How to develop a program in C#?</vt:lpstr>
      <vt:lpstr>Visual Studio Introduction</vt:lpstr>
      <vt:lpstr>Creating new project in VS</vt:lpstr>
      <vt:lpstr>Creating new project in VS</vt:lpstr>
      <vt:lpstr>Creating new project in VS</vt:lpstr>
      <vt:lpstr>Creating new project in VS</vt:lpstr>
      <vt:lpstr>Coding new program in VS</vt:lpstr>
      <vt:lpstr>Coding new program in VS</vt:lpstr>
      <vt:lpstr>Coding new program in VS</vt:lpstr>
      <vt:lpstr>Coding new program in VS</vt:lpstr>
      <vt:lpstr>Data Types in C#</vt:lpstr>
      <vt:lpstr>Input and Out Put Methods</vt:lpstr>
      <vt:lpstr>Input and Out Put Methods</vt:lpstr>
      <vt:lpstr>Example on out put methods</vt:lpstr>
      <vt:lpstr>Coding new program in VS</vt:lpstr>
      <vt:lpstr>Example on out put methods</vt:lpstr>
      <vt:lpstr>After Executing VS</vt:lpstr>
      <vt:lpstr>Example on Data Types with Out put methods</vt:lpstr>
      <vt:lpstr>Input and Out Put Methods</vt:lpstr>
      <vt:lpstr>Input and Out Put Methods</vt:lpstr>
      <vt:lpstr>Reading values</vt:lpstr>
      <vt:lpstr>Operators</vt:lpstr>
      <vt:lpstr>Operators in C#</vt:lpstr>
      <vt:lpstr>Arithmetic operators .</vt:lpstr>
      <vt:lpstr>Arithmetic operators .</vt:lpstr>
      <vt:lpstr>Relational operators:</vt:lpstr>
      <vt:lpstr>Relational operators</vt:lpstr>
      <vt:lpstr>Logical Operators</vt:lpstr>
      <vt:lpstr>Assignment operators</vt:lpstr>
      <vt:lpstr>Assignment Operators program</vt:lpstr>
      <vt:lpstr>Assignment operators:</vt:lpstr>
      <vt:lpstr>Conditional operators</vt:lpstr>
      <vt:lpstr>Conditional Operators program</vt:lpstr>
      <vt:lpstr>Conditional operators:</vt:lpstr>
      <vt:lpstr>Conditional Operators program</vt:lpstr>
      <vt:lpstr>Conditional operators:</vt:lpstr>
      <vt:lpstr>Increment and Decrement operators</vt:lpstr>
      <vt:lpstr>Increment and Decrement Operators program</vt:lpstr>
      <vt:lpstr>Increment decrement operators: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.NET</dc:title>
  <dc:creator>Skoda</dc:creator>
  <cp:lastModifiedBy>arunkumar allam</cp:lastModifiedBy>
  <cp:revision>143</cp:revision>
  <dcterms:created xsi:type="dcterms:W3CDTF">2019-09-12T05:41:00Z</dcterms:created>
  <dcterms:modified xsi:type="dcterms:W3CDTF">2026-02-17T03:55:06Z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30EE061020D9411EA62ED4A6622A23FF</vt:lpwstr>
  </property>
  <property fmtid="{D5CDD505-2E9C-101B-9397-08002B2CF9AE}" pid="3" name="KSOProductBuildVer">
    <vt:lpwstr>1033-11.2.0.11417</vt:lpwstr>
  </property>
</Properties>
</file>